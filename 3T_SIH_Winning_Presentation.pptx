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628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Arial"/>
              </a:defRPr>
            </a:pPr>
            <a:r>
              <a:t>3T (Time To Time)</a:t>
            </a:r>
          </a:p>
          <a:p>
            <a:pPr>
              <a:spcBef>
                <a:spcPts val="800"/>
              </a:spcBef>
              <a:defRPr sz="2000">
                <a:solidFill>
                  <a:srgbClr val="F6B73C"/>
                </a:solidFill>
                <a:latin typeface="Arial"/>
              </a:defRPr>
            </a:pPr>
            <a:r>
              <a:t>India's First Real-Time Quality-Indexed Dairy Payment &amp; Micro-Fintech Network</a:t>
            </a:r>
          </a:p>
          <a:p>
            <a:pPr>
              <a:spcBef>
                <a:spcPts val="1400"/>
              </a:spcBef>
              <a:defRPr sz="1500" i="1">
                <a:solidFill>
                  <a:srgbClr val="B4DCC8"/>
                </a:solidFill>
                <a:latin typeface="Arial"/>
              </a:defRPr>
            </a:pPr>
            <a:r>
              <a:t>Tagline: "Milk Today. Money Today."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123C2C"/>
          </a:solidFill>
          <a:ln w="1270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4572000"/>
            <a:ext cx="98142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6B73C"/>
                </a:solidFill>
              </a:defRPr>
            </a:pPr>
            <a:r>
              <a:t>Smart India Hackathon (SIH) Presentation</a:t>
            </a:r>
          </a:p>
          <a:p>
            <a:pPr>
              <a:spcBef>
                <a:spcPts val="400"/>
              </a:spcBef>
              <a:defRPr sz="1200">
                <a:solidFill>
                  <a:srgbClr val="DCF0E6"/>
                </a:solidFill>
              </a:defRPr>
            </a:pPr>
            <a:r>
              <a:t>Theme: Smart Agriculture / Rural Fintech &amp; Digital Supply Chain  |  Team Leader: Sandesh Kadam</a:t>
            </a:r>
          </a:p>
          <a:p>
            <a:pPr>
              <a:spcBef>
                <a:spcPts val="400"/>
              </a:spcBef>
              <a:defRPr sz="1200">
                <a:solidFill>
                  <a:srgbClr val="B4D2C8"/>
                </a:solidFill>
              </a:defRPr>
            </a:pPr>
            <a:r>
              <a:t>Impact Target: 80+ Million Smallholder Dairy Farmers across 1.5+ Lakh Cooperative Village Hubs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The Ground Reality &amp; Problem Statement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Why 80+ Million Indian Dairy Farmers Face Insecurity &amp; Income Leakage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1. Severe Payout Delays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15 to 30 Day Payment Cycles: Farmers wait weeks for hard-earned milk income.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Daily Operational Costs: Cattle feed, fodder, and medical expenses must be paid daily.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Severe Cashflow Strains: Forces smallholders into financial vulnerability.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D2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2. Opaque Quality Testing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Hidden Agent Deductions: Lack of farmer-facing screens leads to arbitrary FAT/SNF entries.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Income Leakage: Farmers lose 12% to 18% of rightful earnings due to measurement opacity.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Distrust &amp; Disputes: Persistent friction between village farmers and collection centers.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C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3. Rural Debt Traps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No Credit History: Traditional banks classify unbanked dairy farmers as 'high risk'.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Informal Moneylenders: Farmers borrow at predatory 24% - 36% annual interest rates.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Vicious Debt Cycle: Prevents livestock expansion and dairy farm modernizations.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The 3T Solution Ecosystem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An End-to-End Edge-to-Cloud Fintech &amp; Quality Settlement Infrastructure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1. Transparency (Dual-Screen)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Dedicated Farmer Screen: Instant real-time view of Milk Liters, FAT%, SNF%, and Net Rate.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Zero Manual Manipulation: Digital values stream directly from hardware to screen.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Builds Unshakeable Trust: Every farmer sees exact calculations live on screen.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2. Timeliness (&lt;2s UPI Payout)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Sub-2-Second Bank Transfer: Payout dispatched immediately upon milk receipt.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Official RBI UTR Receipts: Instant UTR number generated for 100% verification.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Multi-Channel Vouchers: Automated SMS and WhatsApp digital PDF receipts dispatched.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3. Trust (Kisan Milk Credit)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Algorithmic Credit Score: Evaluates 90-day delivery frequency and FAT consistency.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Instant Feed Advances: Unlocks ₹1,000 - ₹5,000 zero-interest feed advances.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Auto-Settled Microloans: Repayments automatically deducted from daily milk logs.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System Architecture &amp; Technical Workflow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Production-Ready Full-Stack Edge-to-Cloud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Layer 1: Edge Hardware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RS-232 / USB Weight Scale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Ultrasonic Lactoscan Analyzer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Web Serial API Integration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Dual-Monitor Customer Unit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Layer 2: Edge Terminal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Next.js App Router PWA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Multi-Branch Route Isolation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IndexedDB Offline Queue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Dynamic Price Calculator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Layer 3: Cloud &amp; Security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Node.js API &amp; MongoDB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SHA-256 HMAC Signatures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Joi Sanitization &amp; Rate Limit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AI Mitra Knowledge Engine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Layer 4: Banking Core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Instant UPI &amp; IMPS Gateway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Real-Time RBI UTR Tracking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WhatsApp Cloud API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Kisan Credit Engine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Competitive Advantage &amp; Differentiation Matrix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Why 3T Outperforms Traditional Dairy Coops and Legacy POS Terminals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5448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2163"/>
                <a:gridCol w="2682163"/>
                <a:gridCol w="2682163"/>
                <a:gridCol w="2682166"/>
              </a:tblGrid>
              <a:tr h="7620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1A1A1A"/>
                          </a:solidFill>
                        </a:defRPr>
                      </a:pPr>
                      <a:r>
                        <a:t>Evaluation Metric</a:t>
                      </a:r>
                    </a:p>
                  </a:txBody>
                  <a:tcPr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1A1A1A"/>
                          </a:solidFill>
                        </a:defRPr>
                      </a:pPr>
                      <a:r>
                        <a:t>Traditional Cooperatives</a:t>
                      </a:r>
                    </a:p>
                  </a:txBody>
                  <a:tcPr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1A1A1A"/>
                          </a:solidFill>
                        </a:defRPr>
                      </a:pPr>
                      <a:r>
                        <a:t>Generic POS Systems</a:t>
                      </a:r>
                    </a:p>
                  </a:txBody>
                  <a:tcPr>
                    <a:solidFill>
                      <a:srgbClr val="E6F0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3T (Time To Time) Ecosystem</a:t>
                      </a:r>
                    </a:p>
                  </a:txBody>
                  <a:tcPr>
                    <a:solidFill>
                      <a:srgbClr val="0F8A5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Payout Settlement Speed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15 to 30 Days Delay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3 to 7 Days 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8A5F"/>
                          </a:solidFill>
                        </a:defRPr>
                      </a:pPr>
                      <a:r>
                        <a:t>&lt; 2 Seconds (Instant Bank UPI)</a:t>
                      </a:r>
                    </a:p>
                  </a:txBody>
                  <a:tcPr>
                    <a:solidFill>
                      <a:srgbClr val="EEFAF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Quality Transparency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Manual agent diary entry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Agent monitor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8A5F"/>
                          </a:solidFill>
                        </a:defRPr>
                      </a:pPr>
                      <a:r>
                        <a:t>Dual-Display Customer Unit</a:t>
                      </a:r>
                    </a:p>
                  </a:txBody>
                  <a:tcPr>
                    <a:solidFill>
                      <a:srgbClr val="EEFAF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Pricing Valuation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Fixed flat pricing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Manual chart lookup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8A5F"/>
                          </a:solidFill>
                        </a:defRPr>
                      </a:pPr>
                      <a:r>
                        <a:t>Dynamic Formula (FAT + SNF)</a:t>
                      </a:r>
                    </a:p>
                  </a:txBody>
                  <a:tcPr>
                    <a:solidFill>
                      <a:srgbClr val="EEFAF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Offline Resilience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Manual paper ledger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Fails without internet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8A5F"/>
                          </a:solidFill>
                        </a:defRPr>
                      </a:pPr>
                      <a:r>
                        <a:t>PWA IndexedDB Auto-Sync</a:t>
                      </a:r>
                    </a:p>
                  </a:txBody>
                  <a:tcPr>
                    <a:solidFill>
                      <a:srgbClr val="EEFAF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A1A1A"/>
                          </a:solidFill>
                        </a:defRPr>
                      </a:pPr>
                      <a:r>
                        <a:t>Financial Inclusion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A1A1A"/>
                          </a:solidFill>
                        </a:defRPr>
                      </a:pPr>
                      <a:r>
                        <a:t>Basic paper slip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8A5F"/>
                          </a:solidFill>
                        </a:defRPr>
                      </a:pPr>
                      <a:r>
                        <a:t>Kisan Credit Score (300-900)</a:t>
                      </a:r>
                    </a:p>
                  </a:txBody>
                  <a:tcPr>
                    <a:solidFill>
                      <a:srgbClr val="EEFA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Deep Tech Innovations &amp; Algorithmic Features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Proprietary Valuation, Fraud Prevention, and Rural AI Capabilities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1. Dynamic Quality-Indexed Pricing Formula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Formula: Rate = BasePrice + (FAT × FATFactor) + (SNF × SNFFactor)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Eliminates flat market penalties; incentivizes higher quality milk.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Example: Base ₹20 + (4.5% × 5.5) + (8.8% × 2.0) = ₹62.35 / Liter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2. Live Adulteration &amp; Water Detection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Detects abnormal dilution when SNF drops below 8.0% threshold.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Evaluates FAT-to-SNF ratio variance (&gt;25% flags suspicious tampering).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Protects dairies from diluted milk &amp; honest farmers from unfair cuts.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3. Offline-First Synchronization Architecture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Zero downtime during morning 6:00 AM rural connectivity drops.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Local encrypted cache with cryptographic transaction timestamps.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Automatic batch-synchronization to UPI gateway upon 4G restoration.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4. Multilingual AI Krishi Mitra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Context-aware agritech assistant trained on farmer's personal yield history.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Available in Marathi, Hindi, and English for livestock health &amp; feed advice.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Resilient multi-model cascade with automated offline expert fallback.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Business Model &amp; Scalable Monetization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Sustainable High-Margin Revenue Streams with Quick Dairy ROI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1. B2B SaaS Subscriptions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Target: Private Dairies &amp; Village Co-op Societies.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Pricing: ₹499 to ₹799 per branch / month.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Includes: Multi-branch dashboard, automated ledger, real-time analytics, and WhatsApp reports.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2. Micro-Fintech Transaction Fee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0.20% processing fee on instant payouts.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Volume Driven: A single 2,000L hub processes ₹30L+ monthly.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Generates high-margin recurring cash flow with zero credit risk.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3. Agritech Marketplace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Partner Commissions: 3% - 5% on cattle feed, mineral mixtures, and medicines.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Kisan Micro-Credit API: Revenue-share with NBFC partners on feed advances.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Alignment with National Goals &amp; Social Impact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Empowering Rural Livelihoods through Digital India &amp; PM Initiatives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🇮🇳 Digital India &amp; UPI Expansion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Directly penetrates the unorganized rural agricultural sector.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Builds verifiable digital transaction trails directly into bank accounts.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Eliminates cash leakages and intermediary commission cuts.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👩‍🌾 Women Empowerment in Dairy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70%+ of Indian milking and dairy management is handled by rural women.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Direct mobile bank transfers ensure financial autonomy for women farmers.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Empowers household nutrition and education spending.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🥛 National Quality Incentives (NDDB)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Directly aligns with National Dairy Development Board targets.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Incentivizes hygienic, high-FAT/SNF yield through transparent pricing.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Reduces national milk adulteration and contamination rates.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023360"/>
            <a:ext cx="51206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420624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🐄 PM-KISAN &amp; AHIDF Integration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Creates structured livestock performance logs for government subsidy verification.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Enables institutional banks to offer low-interest cattle expansion loans.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Boosts rural economic resilience against crop failures.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0F8A5F"/>
                </a:solidFill>
                <a:latin typeface="Arial"/>
              </a:defRPr>
            </a:pPr>
            <a:r>
              <a:t>90-Second Live Jury Demo Walkthrough</a:t>
            </a:r>
          </a:p>
          <a:p>
            <a:pPr>
              <a:spcBef>
                <a:spcPts val="300"/>
              </a:spcBef>
              <a:defRPr sz="1300">
                <a:solidFill>
                  <a:srgbClr val="707070"/>
                </a:solidFill>
                <a:latin typeface="Arial"/>
              </a:defRPr>
            </a:pPr>
            <a:r>
              <a:t>Demonstrating the Complete Physical-to-Digital Payout Loop in Real-Time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Step 1: Ingestion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Open /branch/B-01.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Launch Dual Customer Screen on secondary display.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Select Farmer Ramesh Kadam (F-101).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Step 2: Measurement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Stream live sensor data (14.8L, 4.5% FAT, 8.8% SNF).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Watch dynamic formula calculate rate: ₹49.75/L.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Total payout: ₹736.30.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Step 3: Instant Pay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Click 'Verify &amp; Dispatch Payout'.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Live settlement pipeline triggers in &lt; 2 seconds.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Verifiable RBI UTR: 3T89182390 generated.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554480"/>
            <a:ext cx="24688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1737360"/>
            <a:ext cx="2103120" cy="4297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0F8A5F"/>
                </a:solidFill>
                <a:latin typeface="Arial"/>
              </a:defRPr>
            </a:pPr>
            <a:r>
              <a:t>Step 4: Transparency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SMS &amp; WhatsApp receipt PDF generated.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Central Admin Dashboard updates volume ledger.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Farmer's Kisan Credit Score increases.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B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728655" cy="36576"/>
          </a:xfrm>
          <a:prstGeom prst="rect">
            <a:avLst/>
          </a:prstGeom>
          <a:solidFill>
            <a:srgbClr val="F6B7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Why 3T is the SIH Winner</a:t>
            </a:r>
          </a:p>
          <a:p>
            <a:pPr>
              <a:spcBef>
                <a:spcPts val="300"/>
              </a:spcBef>
              <a:defRPr sz="1300">
                <a:solidFill>
                  <a:srgbClr val="C8E1D7"/>
                </a:solidFill>
                <a:latin typeface="Arial"/>
              </a:defRPr>
            </a:pPr>
            <a:r>
              <a:t>Addressing Feasibility, Security, and Scalability for a Viksit Bharat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3291840" cy="4114800"/>
          </a:xfrm>
          <a:prstGeom prst="roundRect">
            <a:avLst/>
          </a:prstGeom>
          <a:solidFill>
            <a:srgbClr val="123C2C"/>
          </a:solidFill>
          <a:ln w="1270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6B73C"/>
                </a:solidFill>
                <a:latin typeface="Arial"/>
              </a:defRPr>
            </a:pPr>
            <a:r>
              <a:t>🛡️ Enterprise Security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SHA-256 HMAC Webhook Signatures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NoSQL Injection Hardening via Joi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Role-Based JWT Sessions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Strict Shift &amp; Rate-Limit Bounds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291840" cy="4114800"/>
          </a:xfrm>
          <a:prstGeom prst="roundRect">
            <a:avLst/>
          </a:prstGeom>
          <a:solidFill>
            <a:srgbClr val="123C2C"/>
          </a:solidFill>
          <a:ln w="1270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7373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6B73C"/>
                </a:solidFill>
                <a:latin typeface="Arial"/>
              </a:defRPr>
            </a:pPr>
            <a:r>
              <a:t>⚡ Rural Feasibility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PWA IndexedDB Offline Queue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Web Serial Industrial Sensor API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Ultra-Low Latency UI Response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Low Hardware Cost (Modular Kit)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554480"/>
            <a:ext cx="3291840" cy="4114800"/>
          </a:xfrm>
          <a:prstGeom prst="roundRect">
            <a:avLst/>
          </a:prstGeom>
          <a:solidFill>
            <a:srgbClr val="123C2C"/>
          </a:solidFill>
          <a:ln w="12700">
            <a:solidFill>
              <a:srgbClr val="0F8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737360"/>
            <a:ext cx="292608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F6B73C"/>
                </a:solidFill>
                <a:latin typeface="Arial"/>
              </a:defRPr>
            </a:pPr>
            <a:r>
              <a:t>🚀 Vision for Viksit Bharat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Transforming 80M Dairy Farmers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Eliminating Predatory Moneylenders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100% Digital Dairy Supply Chain</a:t>
            </a:r>
          </a:p>
          <a:p>
            <a:pPr>
              <a:spcBef>
                <a:spcPts val="700"/>
              </a:spcBef>
              <a:defRPr sz="1200">
                <a:solidFill>
                  <a:srgbClr val="1A1A1A"/>
                </a:solidFill>
                <a:latin typeface="Arial"/>
              </a:defRPr>
            </a:pPr>
            <a:r>
              <a:t>• Ready for Multi-State Deployment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600">
                <a:solidFill>
                  <a:srgbClr val="FFFFFF"/>
                </a:solidFill>
              </a:defRPr>
            </a:pPr>
            <a:r>
              <a:t>Thank You! Team 3T is ready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
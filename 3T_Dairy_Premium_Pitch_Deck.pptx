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108960" cy="411480"/>
          </a:xfrm>
          <a:prstGeom prst="round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6EFAC"/>
                </a:solidFill>
              </a:defRPr>
            </a:pPr>
            <a:r>
              <a:t>🌱 NEXT-GEN DAIRY FINTECH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3T (Time To Time) Dairy</a:t>
            </a:r>
          </a:p>
          <a:p>
            <a:pPr>
              <a:defRPr sz="2800" b="1">
                <a:solidFill>
                  <a:srgbClr val="F6B73C"/>
                </a:solidFill>
              </a:defRPr>
            </a:pPr>
            <a:r>
              <a:t>Milk Now. Money 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India's first IoT-connected dairy terminal delivering automated quality analysis, transparent dual displays, and instant 2-second direct-to-bank UPI payouts for 80M+ farmers.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463040"/>
            <a:ext cx="30175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86EFAC"/>
                </a:solidFill>
              </a:defRPr>
            </a:pPr>
            <a:r>
              <a:t>₹10,000 Cr+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Annual Delayed Farmer Working Capital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3017520"/>
            <a:ext cx="30175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86EFAC"/>
                </a:solidFill>
              </a:defRPr>
            </a:pPr>
            <a:r>
              <a:t>2 Seconds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Direct UPI / Bank Payout per Milk Delivery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4572000"/>
            <a:ext cx="30175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86EFAC"/>
                </a:solidFill>
              </a:defRPr>
            </a:pPr>
            <a:r>
              <a:t>100% Zero-Touch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Bluetooth Scale + Dual Display Anti-Tamper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Founder: Sandesh Kadam | 3T Dairy Fintech Innovation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8A5F"/>
                </a:solidFill>
              </a:defRPr>
            </a:pPr>
            <a:r>
              <a:t>THE GROUND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3 Critical Pain Points of India's 80 Million Dairy Farmers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Why traditional paper registers &amp; delayed cooperative credit cycles are hurting rural livelihood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B91C1C"/>
                </a:solidFill>
              </a:defRPr>
            </a:pPr>
            <a:r>
              <a:t>⏳ 15–20 Day Payment Delay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Farmers incur daily expenses for cattle feed and medicine, but dairy payments are held for weeks. This forces farmers into high-interest informal loans.</a:t>
            </a:r>
          </a:p>
          <a:p>
            <a:br/>
            <a:br/>
            <a:pPr>
              <a:defRPr sz="1100" b="1">
                <a:solidFill>
                  <a:srgbClr val="DC2626"/>
                </a:solidFill>
              </a:defRPr>
            </a:pPr>
            <a:r>
              <a:t>🚨 Impact: Severe rural working-capital crisis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73736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B91C1C"/>
                </a:solidFill>
              </a:defRPr>
            </a:pPr>
            <a:r>
              <a:t>❌ Opacity &amp; Manual Tampering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Milk weight and FAT/SNF quality are written manually into registers. Operators frequently under-read quality metrics, reducing farmer earnings by 10–18%.</a:t>
            </a:r>
          </a:p>
          <a:p>
            <a:br/>
            <a:br/>
            <a:pPr>
              <a:defRPr sz="1100" b="1">
                <a:solidFill>
                  <a:srgbClr val="DC2626"/>
                </a:solidFill>
              </a:defRPr>
            </a:pPr>
            <a:r>
              <a:t>🚨 Impact: Lack of trust between farmers &amp; centers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73736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B91C1C"/>
                </a:solidFill>
              </a:defRPr>
            </a:pPr>
            <a:r>
              <a:t>📉 Zero Early Health Warning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When cattle fall ill, milk yield drops silently. Farmers only realize days later when infection spreads, causing permanent loss in cattle productivity.</a:t>
            </a:r>
          </a:p>
          <a:p>
            <a:br/>
            <a:br/>
            <a:pPr>
              <a:defRPr sz="1100" b="1">
                <a:solidFill>
                  <a:srgbClr val="DC2626"/>
                </a:solidFill>
              </a:defRPr>
            </a:pPr>
            <a:r>
              <a:t>🚨 Impact: ₹4,000+ loss per diseased cattle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8A5F"/>
                </a:solidFill>
              </a:defRPr>
            </a:pPr>
            <a:r>
              <a:t>THE 3T BREAKTHROUGH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A Unified IoT &amp; Instant Payout Ecosystem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Transforming village milk collection into a transparent, high-speed digital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3035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8A5F"/>
                </a:solidFill>
              </a:defRPr>
            </a:pPr>
            <a:r>
              <a:t>⚖️ Web Bluetooth IoT Scale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Captures milk volume directly from digital scales via Web Bluetooth API (BLE 4.0+) with zero human typing.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37360"/>
            <a:ext cx="53035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B6B49"/>
                </a:solidFill>
              </a:defRPr>
            </a:pPr>
            <a:r>
              <a:t>🖥️ Customer Dual Display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Live wireless synchronization via BroadcastChannel API so farmers standing in queue verify their FAT/SNF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3035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8A5F"/>
                </a:solidFill>
              </a:defRPr>
            </a:pPr>
            <a:r>
              <a:t>⚡ Instant 2-Sec UPI Payout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Calculates net payout via dynamic pricing formula and triggers direct bank settlement before the farmer leaves.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023360"/>
            <a:ext cx="53035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B6B49"/>
                </a:solidFill>
              </a:defRPr>
            </a:pPr>
            <a:r>
              <a:t>🤖 AI Krishi Mitra Advisory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Multilingual voice/text assistant (Marathi/Hindi/English) + automated yield anomaly alerts for cattle health.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6B73C"/>
                </a:solidFill>
              </a:defRPr>
            </a:pPr>
            <a:r>
              <a:t>HARDWARE-TO-CLOUD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6-Step Automated Dairy Procurement Workflow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From milk pouring to instant bank account credit in under 30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6916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6B73C"/>
                </a:solidFill>
              </a:defRPr>
            </a:pPr>
            <a:r>
              <a:t>STEP 1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Milk Weighing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Weight streamed via Bluetooth 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42032" y="2011680"/>
            <a:ext cx="16916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6B73C"/>
                </a:solidFill>
              </a:defRPr>
            </a:pPr>
            <a:r>
              <a:t>STEP 2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Quality Analysis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Ultrasonic FAT &amp; SNF analyzer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2011680"/>
            <a:ext cx="16916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6B73C"/>
                </a:solidFill>
              </a:defRPr>
            </a:pPr>
            <a:r>
              <a:t>STEP 3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Pricing Formula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Dynamic rate calculation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5" y="2011680"/>
            <a:ext cx="16916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6B73C"/>
                </a:solidFill>
              </a:defRPr>
            </a:pPr>
            <a:r>
              <a:t>STEP 4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Dual Display Sync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Customer screen live broadcast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73568" y="2011680"/>
            <a:ext cx="16916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6B73C"/>
                </a:solidFill>
              </a:defRPr>
            </a:pPr>
            <a:r>
              <a:t>STEP 5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Instant Settlement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UPI / IMPS 2-sec bank payout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2011680"/>
            <a:ext cx="16916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6B73C"/>
                </a:solidFill>
              </a:defRPr>
            </a:pPr>
            <a:r>
              <a:t>STEP 6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Passbook &amp; Alert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Mobile SMS / WhatsApp slip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14532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CFCE7"/>
                </a:solidFill>
              </a:defRPr>
            </a:pPr>
            <a:r>
              <a:t>⚡ Zero Operator Tampering • 100% Hardware Data Integrity • 2-Second Direct Farmer Credit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8A5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Enterprise-Grade, Scalable &amp; Offline-First Tech Stack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Built for high-concurrency rural connectivity resilience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3035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8A5F"/>
                </a:solidFill>
              </a:defRPr>
            </a:pPr>
            <a:r>
              <a:t>💻 Frontend &amp; Presentation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• Next.js 16 (App Router) &amp; React 19</a:t>
            </a:r>
            <a:br/>
            <a:r>
              <a:t>• Tailwind CSS &amp; Framer Motion</a:t>
            </a:r>
            <a:br/>
            <a:r>
              <a:t>• Web Bluetooth API (BLE 4.0+)</a:t>
            </a:r>
            <a:br/>
            <a:r>
              <a:t>• BroadcastChannel Multi-Screen Sync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37360"/>
            <a:ext cx="53035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8A5F"/>
                </a:solidFill>
              </a:defRPr>
            </a:pPr>
            <a:r>
              <a:t>⚙️ Core Application Gateway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• Dynamic Milk Pricing Formula Engine</a:t>
            </a:r>
            <a:br/>
            <a:r>
              <a:t>• Milk Drop Anomaly Detection Engine</a:t>
            </a:r>
            <a:br/>
            <a:r>
              <a:t>• Zero-Knowledge PII Masking (Aadhaar/Bank)</a:t>
            </a:r>
            <a:br/>
            <a:r>
              <a:t>• OTP-Guarded Profile Security Shield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3035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8A5F"/>
                </a:solidFill>
              </a:defRPr>
            </a:pPr>
            <a:r>
              <a:t>💾 Hybrid Database &amp; Sync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• Write-Through Sequential Lock Queue</a:t>
            </a:r>
            <a:br/>
            <a:r>
              <a:t>• Supabase Cloud PostgreSQL Sync</a:t>
            </a:r>
            <a:br/>
            <a:r>
              <a:t>• Local LowDB Edge Persistence Cache</a:t>
            </a:r>
            <a:br/>
            <a:r>
              <a:t>• Zero-loss offline rural fallback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023360"/>
            <a:ext cx="53035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8A5F"/>
                </a:solidFill>
              </a:defRPr>
            </a:pPr>
            <a:r>
              <a:t>🏦 Fintech &amp; AI Infrastructure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• NPCI UPI / IMPS Instant Payout APIs</a:t>
            </a:r>
            <a:br/>
            <a:r>
              <a:t>• RazorpayX Sandbox &amp; Live Gateway</a:t>
            </a:r>
            <a:br/>
            <a:r>
              <a:t>• Google Gemini AI Multilingual LLM</a:t>
            </a:r>
            <a:br/>
            <a:r>
              <a:t>• SMS / WhatsApp Transaction Dispatcher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8A5F"/>
                </a:solidFill>
              </a:defRPr>
            </a:pPr>
            <a:r>
              <a:t>BUSINESS &amp; 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How 3T Dairy Generates Sustainable, Scalable Cash Flow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Multiple high-margin revenue streams across SaaS, Fintech &amp; Agri-Commerce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6060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8A5F"/>
                </a:solidFill>
              </a:defRPr>
            </a:pPr>
            <a:r>
              <a:t>🏢 1. B2B Dairy SaaS Subscription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Monthly software license charged per village milk collection hub.</a:t>
            </a:r>
          </a:p>
          <a:p>
            <a:br/>
            <a:br/>
            <a:pPr>
              <a:defRPr sz="1200" b="1">
                <a:solidFill>
                  <a:srgbClr val="0B6B49"/>
                </a:solidFill>
              </a:defRPr>
            </a:pPr>
            <a:r>
              <a:t>💰 ₹500 – ₹1,500 / Month per Center</a:t>
            </a:r>
          </a:p>
          <a:p>
            <a:br/>
            <a:pPr>
              <a:defRPr sz="1000">
                <a:solidFill>
                  <a:srgbClr val="64748B"/>
                </a:solidFill>
              </a:defRPr>
            </a:pPr>
            <a:r>
              <a:t>📊 Recurring Annual Revenue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737360"/>
            <a:ext cx="26060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8A5F"/>
                </a:solidFill>
              </a:defRPr>
            </a:pPr>
            <a:r>
              <a:t>⚡ 2. Instant Micro-Payout Fee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Nominal convenience fee per instant bank settlement transaction.</a:t>
            </a:r>
          </a:p>
          <a:p>
            <a:br/>
            <a:br/>
            <a:pPr>
              <a:defRPr sz="1200" b="1">
                <a:solidFill>
                  <a:srgbClr val="0B6B49"/>
                </a:solidFill>
              </a:defRPr>
            </a:pPr>
            <a:r>
              <a:t>💰 ₹0.50 – ₹1.00 per Payout</a:t>
            </a:r>
          </a:p>
          <a:p>
            <a:br/>
            <a:pPr>
              <a:defRPr sz="1000">
                <a:solidFill>
                  <a:srgbClr val="64748B"/>
                </a:solidFill>
              </a:defRPr>
            </a:pPr>
            <a:r>
              <a:t>📊 High Volume Daily Micro-revenue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737360"/>
            <a:ext cx="26060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8A5F"/>
                </a:solidFill>
              </a:defRPr>
            </a:pPr>
            <a:r>
              <a:t>🌾 3. Agri-Commerce &amp; Cattle Feed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Marketplace commission on cattle feed, mineral mixtures, and vet supplies.</a:t>
            </a:r>
          </a:p>
          <a:p>
            <a:br/>
            <a:br/>
            <a:pPr>
              <a:defRPr sz="1200" b="1">
                <a:solidFill>
                  <a:srgbClr val="0B6B49"/>
                </a:solidFill>
              </a:defRPr>
            </a:pPr>
            <a:r>
              <a:t>💰 3% – 5% Commission per Order</a:t>
            </a:r>
          </a:p>
          <a:p>
            <a:br/>
            <a:pPr>
              <a:defRPr sz="1000">
                <a:solidFill>
                  <a:srgbClr val="64748B"/>
                </a:solidFill>
              </a:defRPr>
            </a:pPr>
            <a:r>
              <a:t>📊 Direct-to-farmer supplies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737360"/>
            <a:ext cx="26060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8A5F"/>
                </a:solidFill>
              </a:defRPr>
            </a:pPr>
            <a:r>
              <a:t>🏦 4. Cattle Loan &amp; Credit Scoring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Digitized milk ledger enables instant credit scoring for bank cattle loans.</a:t>
            </a:r>
          </a:p>
          <a:p>
            <a:br/>
            <a:br/>
            <a:pPr>
              <a:defRPr sz="1200" b="1">
                <a:solidFill>
                  <a:srgbClr val="0B6B49"/>
                </a:solidFill>
              </a:defRPr>
            </a:pPr>
            <a:r>
              <a:t>💰 1% – 2% Loan Origination Fee</a:t>
            </a:r>
          </a:p>
          <a:p>
            <a:br/>
            <a:pPr>
              <a:defRPr sz="1000">
                <a:solidFill>
                  <a:srgbClr val="64748B"/>
                </a:solidFill>
              </a:defRPr>
            </a:pPr>
            <a:r>
              <a:t>📊 Fintech credit enablement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8A5F"/>
                </a:solidFill>
              </a:defRPr>
            </a:pPr>
            <a:r>
              <a:t>COMPETITIVE MOAT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Why 3T Outperforms Traditional &amp; Existing Solutions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Aligned with national development priorities and rural empowerment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743200"/>
                <a:gridCol w="2743200"/>
                <a:gridCol w="2743200"/>
              </a:tblGrid>
              <a:tr h="51206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Centers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Legacy Software (Stellapps/Prompt)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3T (Time To Time)</a:t>
                      </a:r>
                    </a:p>
                  </a:txBody>
                  <a:tcPr>
                    <a:solidFill>
                      <a:srgbClr val="0F8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Payment Settlement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15–20 Days Delay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7–10 Days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6B49"/>
                          </a:solidFill>
                        </a:defRPr>
                      </a:pPr>
                      <a:r>
                        <a:t>✅ Instant 2-Second Direct UPI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Testing Transparency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Manual paper ledger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Operator monitor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6B49"/>
                          </a:solidFill>
                        </a:defRPr>
                      </a:pPr>
                      <a:r>
                        <a:t>✅ Live Customer Dual-Display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Hardware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Manual typing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Proprietary locked 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6B49"/>
                          </a:solidFill>
                        </a:defRPr>
                      </a:pPr>
                      <a:r>
                        <a:t>✅ Universal Web Bluetooth BLE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AI &amp; Health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Basic historical 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6B49"/>
                          </a:solidFill>
                        </a:defRPr>
                      </a:pPr>
                      <a:r>
                        <a:t>✅ Multilingual AI Mitra + Drop Alert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57200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8A5F"/>
                </a:solidFill>
              </a:defRPr>
            </a:pPr>
            <a:r>
              <a:t>👩‍🌾 Women Empowerment</a:t>
            </a:r>
          </a:p>
          <a:p>
            <a:br/>
            <a:pPr>
              <a:defRPr sz="950">
                <a:solidFill>
                  <a:srgbClr val="1E293B"/>
                </a:solidFill>
              </a:defRPr>
            </a:pPr>
            <a:r>
              <a:t>70%+ of Indian dairy labor is handled by rural women. Direct mobile UPI credits ensure earnings reach women directly.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457200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8A5F"/>
                </a:solidFill>
              </a:defRPr>
            </a:pPr>
            <a:r>
              <a:t>🇮🇳 Digital India &amp; UPI</a:t>
            </a:r>
          </a:p>
          <a:p>
            <a:br/>
            <a:pPr>
              <a:defRPr sz="950">
                <a:solidFill>
                  <a:srgbClr val="1E293B"/>
                </a:solidFill>
              </a:defRPr>
            </a:pPr>
            <a:r>
              <a:t>Deepens formal fintech penetration into Tier-3 &amp; Tier-4 rural agrarian economies.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457200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8A5F"/>
                </a:solidFill>
              </a:defRPr>
            </a:pPr>
            <a:r>
              <a:t>🥛 NDDB Clean Milk Mission</a:t>
            </a:r>
          </a:p>
          <a:p>
            <a:br/>
            <a:pPr>
              <a:defRPr sz="950">
                <a:solidFill>
                  <a:srgbClr val="1E293B"/>
                </a:solidFill>
              </a:defRPr>
            </a:pPr>
            <a:r>
              <a:t>Quality-based transparent pricing rewards hygienic milk production and penalizes adulteration.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6B73C"/>
                </a:solidFill>
              </a:defRPr>
            </a:pPr>
            <a:r>
              <a:t>EXECUTION ROADMAP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From Prototype to Pan-India Dairy Digitization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Scalable 18-month execution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86EFAC"/>
                </a:solidFill>
              </a:defRPr>
            </a:pPr>
            <a:r>
              <a:t>Phase 1: Ground Pilot</a:t>
            </a:r>
          </a:p>
          <a:p>
            <a:pPr>
              <a:defRPr sz="1100">
                <a:solidFill>
                  <a:srgbClr val="F6B73C"/>
                </a:solidFill>
              </a:defRPr>
            </a:pPr>
            <a:r>
              <a:t>Q1 2026</a:t>
            </a:r>
          </a:p>
          <a:p>
            <a:br/>
            <a:pPr>
              <a:defRPr sz="1100">
                <a:solidFill>
                  <a:srgbClr val="E2E8F0"/>
                </a:solidFill>
              </a:defRPr>
            </a:pPr>
            <a:r>
              <a:t>• 1 Village Hub (Sangamner)</a:t>
            </a:r>
            <a:br/>
            <a:r>
              <a:t>• 100+ Active Farmers</a:t>
            </a:r>
            <a:br/>
            <a:r>
              <a:t>• Real UPI payment testing</a:t>
            </a:r>
            <a:br/>
            <a:r>
              <a:t>• Hardware scale pairing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737360"/>
            <a:ext cx="347472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86EFAC"/>
                </a:solidFill>
              </a:defRPr>
            </a:pPr>
            <a:r>
              <a:t>Phase 2: District Scale</a:t>
            </a:r>
          </a:p>
          <a:p>
            <a:pPr>
              <a:defRPr sz="1100">
                <a:solidFill>
                  <a:srgbClr val="F6B73C"/>
                </a:solidFill>
              </a:defRPr>
            </a:pPr>
            <a:r>
              <a:t>Q2–Q3 2026</a:t>
            </a:r>
          </a:p>
          <a:p>
            <a:br/>
            <a:pPr>
              <a:defRPr sz="1100">
                <a:solidFill>
                  <a:srgbClr val="E2E8F0"/>
                </a:solidFill>
              </a:defRPr>
            </a:pPr>
            <a:r>
              <a:t>• 50 Village Collection Centers</a:t>
            </a:r>
            <a:br/>
            <a:r>
              <a:t>• 5,000+ Daily Pours</a:t>
            </a:r>
            <a:br/>
            <a:r>
              <a:t>• Cattle Feed Marketplace</a:t>
            </a:r>
            <a:br/>
            <a:r>
              <a:t>• Seed grant application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737360"/>
            <a:ext cx="347472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86EFAC"/>
                </a:solidFill>
              </a:defRPr>
            </a:pPr>
            <a:r>
              <a:t>Phase 3: Cooperative Scale</a:t>
            </a:r>
          </a:p>
          <a:p>
            <a:pPr>
              <a:defRPr sz="1100">
                <a:solidFill>
                  <a:srgbClr val="F6B73C"/>
                </a:solidFill>
              </a:defRPr>
            </a:pPr>
            <a:r>
              <a:t>Q4 2026+</a:t>
            </a:r>
          </a:p>
          <a:p>
            <a:br/>
            <a:pPr>
              <a:defRPr sz="1100">
                <a:solidFill>
                  <a:srgbClr val="E2E8F0"/>
                </a:solidFill>
              </a:defRPr>
            </a:pPr>
            <a:r>
              <a:t>• Integration with State Dairy Federations</a:t>
            </a:r>
            <a:br/>
            <a:r>
              <a:t>• 100,000+ Farmers</a:t>
            </a:r>
            <a:br/>
            <a:r>
              <a:t>• Formal NBFC Cattle Loans</a:t>
            </a:r>
            <a:br/>
            <a:r>
              <a:t>• National Expansion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1005840"/>
          </a:xfrm>
          <a:prstGeom prst="roundRect">
            <a:avLst/>
          </a:prstGeom>
          <a:solidFill>
            <a:srgbClr val="14532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🚀 Experience the Live Working Prototype</a:t>
            </a:r>
          </a:p>
          <a:p>
            <a:pPr algn="ctr">
              <a:defRPr sz="1100">
                <a:solidFill>
                  <a:srgbClr val="BBF7D0"/>
                </a:solidFill>
              </a:defRPr>
            </a:pPr>
            <a:r>
              <a:t>Web: 3T Dairy Ecosystem | GitHub: sandeshk0019-spec/3tdairy | Contact: Sandesh Kadam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